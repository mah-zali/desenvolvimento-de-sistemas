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5143500" cx="9144000"/>
  <p:notesSz cx="6858000" cy="9144000"/>
  <p:embeddedFontLst>
    <p:embeddedFont>
      <p:font typeface="Roboto"/>
      <p:regular r:id="rId28"/>
      <p:bold r:id="rId29"/>
      <p:italic r:id="rId30"/>
      <p:boldItalic r:id="rId31"/>
    </p:embeddedFont>
    <p:embeddedFont>
      <p:font typeface="Tahoma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irQs88T6jcoe5XlfzgQ1ty8oH6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Roboto-regular.fnt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7.xml"/><Relationship Id="rId33" Type="http://schemas.openxmlformats.org/officeDocument/2006/relationships/font" Target="fonts/Tahoma-bold.fntdata"/><Relationship Id="rId10" Type="http://schemas.openxmlformats.org/officeDocument/2006/relationships/slide" Target="slides/slide6.xml"/><Relationship Id="rId32" Type="http://schemas.openxmlformats.org/officeDocument/2006/relationships/font" Target="fonts/Tahoma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customschemas.google.com/relationships/presentationmetadata" Target="meta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7" name="Google Shape;327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5" name="Google Shape;335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/>
              <a:t>letra d</a:t>
            </a:r>
            <a:endParaRPr/>
          </a:p>
        </p:txBody>
      </p:sp>
      <p:sp>
        <p:nvSpPr>
          <p:cNvPr id="342" name="Google Shape;342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0" name="Google Shape;350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7" name="Google Shape;357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4" name="Google Shape;364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500"/>
              <a:buFont typeface="Tahoma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35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" name="Google Shape;15;p3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3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3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6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6"/>
          <p:cNvSpPr txBox="1"/>
          <p:nvPr>
            <p:ph idx="1" type="body"/>
          </p:nvPr>
        </p:nvSpPr>
        <p:spPr>
          <a:xfrm>
            <a:off x="628650" y="1070856"/>
            <a:ext cx="78867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" name="Google Shape;21;p3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3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3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7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3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3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0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500"/>
              <a:buFont typeface="Tahoma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40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4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4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1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41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8" name="Google Shape;38;p41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9" name="Google Shape;39;p41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0" name="Google Shape;40;p41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4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4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4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4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4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3"/>
          <p:cNvSpPr txBox="1"/>
          <p:nvPr>
            <p:ph type="title"/>
          </p:nvPr>
        </p:nvSpPr>
        <p:spPr>
          <a:xfrm>
            <a:off x="629841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43"/>
          <p:cNvSpPr txBox="1"/>
          <p:nvPr>
            <p:ph idx="1" type="body"/>
          </p:nvPr>
        </p:nvSpPr>
        <p:spPr>
          <a:xfrm>
            <a:off x="3887391" y="740569"/>
            <a:ext cx="46290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1" name="Google Shape;51;p43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2" name="Google Shape;52;p4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4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4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4"/>
          <p:cNvSpPr txBox="1"/>
          <p:nvPr>
            <p:ph type="title"/>
          </p:nvPr>
        </p:nvSpPr>
        <p:spPr>
          <a:xfrm>
            <a:off x="629841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44"/>
          <p:cNvSpPr/>
          <p:nvPr>
            <p:ph idx="2" type="pic"/>
          </p:nvPr>
        </p:nvSpPr>
        <p:spPr>
          <a:xfrm>
            <a:off x="3887391" y="740569"/>
            <a:ext cx="46290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44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9" name="Google Shape;59;p4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4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4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5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45"/>
          <p:cNvSpPr txBox="1"/>
          <p:nvPr>
            <p:ph idx="1" type="body"/>
          </p:nvPr>
        </p:nvSpPr>
        <p:spPr>
          <a:xfrm rot="5400000">
            <a:off x="2869200" y="-1169694"/>
            <a:ext cx="34056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4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4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4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6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46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4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4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4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  <a:defRPr b="1" i="0" sz="2400" u="none" cap="none" strike="noStrik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4"/>
          <p:cNvSpPr txBox="1"/>
          <p:nvPr>
            <p:ph idx="1" type="body"/>
          </p:nvPr>
        </p:nvSpPr>
        <p:spPr>
          <a:xfrm>
            <a:off x="628650" y="1070856"/>
            <a:ext cx="7886700" cy="3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" name="Google Shape;11;p34"/>
          <p:cNvPicPr preferRelativeResize="0"/>
          <p:nvPr/>
        </p:nvPicPr>
        <p:blipFill rotWithShape="1">
          <a:blip r:embed="rId1">
            <a:alphaModFix/>
          </a:blip>
          <a:srcRect b="75927" l="62821" r="3833" t="0"/>
          <a:stretch/>
        </p:blipFill>
        <p:spPr>
          <a:xfrm>
            <a:off x="6765326" y="0"/>
            <a:ext cx="2310714" cy="93911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Relationship Id="rId4" Type="http://schemas.openxmlformats.org/officeDocument/2006/relationships/image" Target="../media/image1.jp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1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23.png"/><Relationship Id="rId10" Type="http://schemas.openxmlformats.org/officeDocument/2006/relationships/image" Target="../media/image26.png"/><Relationship Id="rId9" Type="http://schemas.openxmlformats.org/officeDocument/2006/relationships/image" Target="../media/image20.png"/><Relationship Id="rId5" Type="http://schemas.openxmlformats.org/officeDocument/2006/relationships/image" Target="../media/image36.jpg"/><Relationship Id="rId6" Type="http://schemas.openxmlformats.org/officeDocument/2006/relationships/image" Target="../media/image8.png"/><Relationship Id="rId7" Type="http://schemas.openxmlformats.org/officeDocument/2006/relationships/image" Target="../media/image18.png"/><Relationship Id="rId8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Relationship Id="rId4" Type="http://schemas.openxmlformats.org/officeDocument/2006/relationships/image" Target="../media/image3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Relationship Id="rId4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Relationship Id="rId4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5720"/>
            <a:ext cx="9225213" cy="5193453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"/>
          <p:cNvSpPr txBox="1"/>
          <p:nvPr>
            <p:ph idx="11" type="ftr"/>
          </p:nvPr>
        </p:nvSpPr>
        <p:spPr>
          <a:xfrm>
            <a:off x="2793650" y="4767263"/>
            <a:ext cx="3493638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pt-BR"/>
              <a:t>AR02/2024 – AULA02 - Fundamentos - Professor Luiz Alexandre</a:t>
            </a:r>
            <a:endParaRPr/>
          </a:p>
        </p:txBody>
      </p:sp>
      <p:sp>
        <p:nvSpPr>
          <p:cNvPr id="80" name="Google Shape;80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3543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"/>
          <p:cNvSpPr txBox="1"/>
          <p:nvPr/>
        </p:nvSpPr>
        <p:spPr>
          <a:xfrm>
            <a:off x="4452182" y="3618203"/>
            <a:ext cx="4761186" cy="14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Análise de Requisitos: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Fundamentos da Engenharia de Requisitos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Professora Ana Cristine</a:t>
            </a:r>
            <a:endParaRPr b="0" i="0" sz="16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7" name="Google Shape;87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</a:pPr>
            <a:r>
              <a:rPr lang="pt-BR" sz="2000"/>
              <a:t>Referencial bibliográfico</a:t>
            </a:r>
            <a:endParaRPr/>
          </a:p>
        </p:txBody>
      </p:sp>
      <p:sp>
        <p:nvSpPr>
          <p:cNvPr id="93" name="Google Shape;93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2375" y="1520173"/>
            <a:ext cx="1952076" cy="2573552"/>
          </a:xfrm>
          <a:prstGeom prst="rect">
            <a:avLst/>
          </a:prstGeom>
          <a:noFill/>
          <a:ln>
            <a:noFill/>
          </a:ln>
          <a:effectLst>
            <a:reflection blurRad="0" dir="5400000" dist="5000" endA="0" endPos="30000" kx="0" rotWithShape="0" algn="bl" stA="30000" stPos="0" sy="-100000" ky="0"/>
          </a:effectLst>
        </p:spPr>
      </p:pic>
      <p:pic>
        <p:nvPicPr>
          <p:cNvPr id="95" name="Google Shape;9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5874" y="1769625"/>
            <a:ext cx="1790296" cy="2324100"/>
          </a:xfrm>
          <a:prstGeom prst="rect">
            <a:avLst/>
          </a:prstGeom>
          <a:noFill/>
          <a:ln>
            <a:noFill/>
          </a:ln>
          <a:effectLst>
            <a:reflection blurRad="0" dir="5400000" dist="5000" endA="0" endPos="30000" kx="0" rotWithShape="0" algn="bl" stA="30000" stPos="0" sy="-100000" ky="0"/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</a:pPr>
            <a:r>
              <a:rPr lang="pt-BR" sz="2000"/>
              <a:t>Roteiro – Fundamentos da Engenharia de Requisitos</a:t>
            </a:r>
            <a:endParaRPr/>
          </a:p>
        </p:txBody>
      </p:sp>
      <p:sp>
        <p:nvSpPr>
          <p:cNvPr id="101" name="Google Shape;101;p4"/>
          <p:cNvSpPr txBox="1"/>
          <p:nvPr>
            <p:ph idx="1" type="body"/>
          </p:nvPr>
        </p:nvSpPr>
        <p:spPr>
          <a:xfrm>
            <a:off x="628650" y="1070856"/>
            <a:ext cx="7886700" cy="3608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85750" lvl="0" marL="51435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ourier New"/>
              <a:buChar char="o"/>
            </a:pPr>
            <a:r>
              <a:rPr lang="pt-BR"/>
              <a:t>Objetivos</a:t>
            </a:r>
            <a:endParaRPr/>
          </a:p>
          <a:p>
            <a:pPr indent="-285750" lvl="0" marL="51435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ourier New"/>
              <a:buChar char="o"/>
            </a:pPr>
            <a:r>
              <a:rPr lang="pt-BR"/>
              <a:t>Diferenças que precisam ser notadas</a:t>
            </a:r>
            <a:endParaRPr/>
          </a:p>
          <a:p>
            <a:pPr indent="-285750" lvl="0" marL="51435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ourier New"/>
              <a:buChar char="o"/>
            </a:pPr>
            <a:r>
              <a:rPr lang="pt-BR"/>
              <a:t>Princípios</a:t>
            </a:r>
            <a:endParaRPr/>
          </a:p>
          <a:p>
            <a:pPr indent="-285750" lvl="0" marL="51435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ourier New"/>
              <a:buChar char="o"/>
            </a:pPr>
            <a:r>
              <a:rPr lang="pt-BR"/>
              <a:t>Visão da Engenharia de Requisitos</a:t>
            </a:r>
            <a:endParaRPr/>
          </a:p>
          <a:p>
            <a:pPr indent="-285750" lvl="0" marL="51435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ourier New"/>
              <a:buChar char="o"/>
            </a:pPr>
            <a:r>
              <a:rPr lang="pt-BR"/>
              <a:t>Dinâmica II</a:t>
            </a:r>
            <a:endParaRPr/>
          </a:p>
          <a:p>
            <a:pPr indent="-285750" lvl="0" marL="51435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Courier New"/>
              <a:buChar char="o"/>
            </a:pPr>
            <a:r>
              <a:rPr lang="pt-BR"/>
              <a:t>Fechamento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"/>
          <p:cNvSpPr txBox="1"/>
          <p:nvPr>
            <p:ph type="title"/>
          </p:nvPr>
        </p:nvSpPr>
        <p:spPr>
          <a:xfrm>
            <a:off x="1662544" y="376458"/>
            <a:ext cx="4668983" cy="49997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26984"/>
              <a:buFont typeface="Tahoma"/>
              <a:buNone/>
            </a:pPr>
            <a:r>
              <a:rPr lang="pt-BR" sz="2100"/>
              <a:t>Diferenças que precisam ser notadas</a:t>
            </a:r>
            <a:endParaRPr/>
          </a:p>
        </p:txBody>
      </p:sp>
      <p:sp>
        <p:nvSpPr>
          <p:cNvPr id="108" name="Google Shape;108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109" name="Google Shape;109;p8"/>
          <p:cNvGrpSpPr/>
          <p:nvPr/>
        </p:nvGrpSpPr>
        <p:grpSpPr>
          <a:xfrm>
            <a:off x="921432" y="1775431"/>
            <a:ext cx="7171313" cy="2271593"/>
            <a:chOff x="39870" y="997736"/>
            <a:chExt cx="7171313" cy="2271593"/>
          </a:xfrm>
        </p:grpSpPr>
        <p:sp>
          <p:nvSpPr>
            <p:cNvPr id="110" name="Google Shape;110;p8"/>
            <p:cNvSpPr/>
            <p:nvPr/>
          </p:nvSpPr>
          <p:spPr>
            <a:xfrm>
              <a:off x="628560" y="997736"/>
              <a:ext cx="963310" cy="96331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-10000" r="-1000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39870" y="2301829"/>
              <a:ext cx="2140690" cy="96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8"/>
            <p:cNvSpPr txBox="1"/>
            <p:nvPr/>
          </p:nvSpPr>
          <p:spPr>
            <a:xfrm>
              <a:off x="39870" y="2301829"/>
              <a:ext cx="2140690" cy="96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Engenharia de Requisitos:</a:t>
              </a:r>
              <a:br>
                <a:rPr b="0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conjunto de atividades que se preocupam em identificar e comunicar o propósito de um sistema ou software e o contexto em que ele será usado.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8"/>
            <p:cNvSpPr/>
            <p:nvPr/>
          </p:nvSpPr>
          <p:spPr>
            <a:xfrm>
              <a:off x="3143872" y="997736"/>
              <a:ext cx="963310" cy="96331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-24999" r="-24999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8"/>
            <p:cNvSpPr/>
            <p:nvPr/>
          </p:nvSpPr>
          <p:spPr>
            <a:xfrm>
              <a:off x="2555182" y="2301829"/>
              <a:ext cx="2140690" cy="96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8"/>
            <p:cNvSpPr txBox="1"/>
            <p:nvPr/>
          </p:nvSpPr>
          <p:spPr>
            <a:xfrm>
              <a:off x="2555182" y="2301829"/>
              <a:ext cx="2140690" cy="96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Análise de Requisitos:</a:t>
              </a:r>
              <a:br>
                <a:rPr b="0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processo de refinar as necessidades e restrições do usuário com base nas informações coletadas.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8"/>
            <p:cNvSpPr/>
            <p:nvPr/>
          </p:nvSpPr>
          <p:spPr>
            <a:xfrm>
              <a:off x="5659183" y="997736"/>
              <a:ext cx="963310" cy="96331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8"/>
            <p:cNvSpPr/>
            <p:nvPr/>
          </p:nvSpPr>
          <p:spPr>
            <a:xfrm>
              <a:off x="5070493" y="2301829"/>
              <a:ext cx="2140690" cy="96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8"/>
            <p:cNvSpPr txBox="1"/>
            <p:nvPr/>
          </p:nvSpPr>
          <p:spPr>
            <a:xfrm>
              <a:off x="5070493" y="2301829"/>
              <a:ext cx="2140690" cy="96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Requisito:uma condição ou capacidade que deve ser satisfeita ou possuída por um sistema para atender a uma necessidade ou restrição”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</a:pPr>
            <a:r>
              <a:rPr lang="pt-BR" sz="2400"/>
              <a:t>Princípios que guiam a prática</a:t>
            </a:r>
            <a:endParaRPr/>
          </a:p>
        </p:txBody>
      </p:sp>
      <p:sp>
        <p:nvSpPr>
          <p:cNvPr id="124" name="Google Shape;124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125" name="Google Shape;125;p10"/>
          <p:cNvGrpSpPr/>
          <p:nvPr/>
        </p:nvGrpSpPr>
        <p:grpSpPr>
          <a:xfrm>
            <a:off x="1464394" y="1081105"/>
            <a:ext cx="6022980" cy="3455807"/>
            <a:chOff x="1159593" y="450"/>
            <a:chExt cx="6022980" cy="3455807"/>
          </a:xfrm>
        </p:grpSpPr>
        <p:sp>
          <p:nvSpPr>
            <p:cNvPr id="126" name="Google Shape;126;p10"/>
            <p:cNvSpPr/>
            <p:nvPr/>
          </p:nvSpPr>
          <p:spPr>
            <a:xfrm rot="5400000">
              <a:off x="878711" y="785672"/>
              <a:ext cx="1227115" cy="148106"/>
            </a:xfrm>
            <a:prstGeom prst="rect">
              <a:avLst/>
            </a:prstGeom>
            <a:solidFill>
              <a:srgbClr val="B3CA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0"/>
            <p:cNvSpPr/>
            <p:nvPr/>
          </p:nvSpPr>
          <p:spPr>
            <a:xfrm>
              <a:off x="1159593" y="450"/>
              <a:ext cx="1645622" cy="987373"/>
            </a:xfrm>
            <a:prstGeom prst="roundRect">
              <a:avLst>
                <a:gd fmla="val 10000" name="adj"/>
              </a:avLst>
            </a:prstGeom>
            <a:solidFill>
              <a:schemeClr val="accent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0"/>
            <p:cNvSpPr txBox="1"/>
            <p:nvPr/>
          </p:nvSpPr>
          <p:spPr>
            <a:xfrm>
              <a:off x="1188512" y="29369"/>
              <a:ext cx="1587784" cy="9295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pt-BR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Processo</a:t>
              </a:r>
              <a:endPara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0"/>
            <p:cNvSpPr/>
            <p:nvPr/>
          </p:nvSpPr>
          <p:spPr>
            <a:xfrm rot="5400000">
              <a:off x="878711" y="2019889"/>
              <a:ext cx="1227115" cy="148106"/>
            </a:xfrm>
            <a:prstGeom prst="rect">
              <a:avLst/>
            </a:prstGeom>
            <a:solidFill>
              <a:srgbClr val="B3CA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0"/>
            <p:cNvSpPr/>
            <p:nvPr/>
          </p:nvSpPr>
          <p:spPr>
            <a:xfrm>
              <a:off x="1159593" y="1234667"/>
              <a:ext cx="1645622" cy="987373"/>
            </a:xfrm>
            <a:prstGeom prst="roundRect">
              <a:avLst>
                <a:gd fmla="val 10000" name="adj"/>
              </a:avLst>
            </a:prstGeom>
            <a:solidFill>
              <a:schemeClr val="accent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0"/>
            <p:cNvSpPr txBox="1"/>
            <p:nvPr/>
          </p:nvSpPr>
          <p:spPr>
            <a:xfrm>
              <a:off x="1188512" y="1263586"/>
              <a:ext cx="1587784" cy="9295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pt-BR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Prática</a:t>
              </a:r>
              <a:endPara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0"/>
            <p:cNvSpPr/>
            <p:nvPr/>
          </p:nvSpPr>
          <p:spPr>
            <a:xfrm>
              <a:off x="1495820" y="2636997"/>
              <a:ext cx="2181577" cy="148106"/>
            </a:xfrm>
            <a:prstGeom prst="rect">
              <a:avLst/>
            </a:prstGeom>
            <a:solidFill>
              <a:srgbClr val="B3CA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0"/>
            <p:cNvSpPr/>
            <p:nvPr/>
          </p:nvSpPr>
          <p:spPr>
            <a:xfrm>
              <a:off x="1159593" y="2468884"/>
              <a:ext cx="1645622" cy="987373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0"/>
            <p:cNvSpPr txBox="1"/>
            <p:nvPr/>
          </p:nvSpPr>
          <p:spPr>
            <a:xfrm>
              <a:off x="1188512" y="2497803"/>
              <a:ext cx="1587784" cy="9295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pt-BR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Comunicação</a:t>
              </a:r>
              <a:endPara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0"/>
            <p:cNvSpPr/>
            <p:nvPr/>
          </p:nvSpPr>
          <p:spPr>
            <a:xfrm rot="-5400000">
              <a:off x="3067390" y="2019889"/>
              <a:ext cx="1227115" cy="148106"/>
            </a:xfrm>
            <a:prstGeom prst="rect">
              <a:avLst/>
            </a:prstGeom>
            <a:solidFill>
              <a:srgbClr val="B3CA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0"/>
            <p:cNvSpPr/>
            <p:nvPr/>
          </p:nvSpPr>
          <p:spPr>
            <a:xfrm>
              <a:off x="3348272" y="2468884"/>
              <a:ext cx="1645622" cy="987373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0"/>
            <p:cNvSpPr txBox="1"/>
            <p:nvPr/>
          </p:nvSpPr>
          <p:spPr>
            <a:xfrm>
              <a:off x="3377191" y="2497803"/>
              <a:ext cx="1587784" cy="9295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pt-BR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Planejamento</a:t>
              </a:r>
              <a:endPara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067390" y="785672"/>
              <a:ext cx="1227115" cy="148106"/>
            </a:xfrm>
            <a:prstGeom prst="rect">
              <a:avLst/>
            </a:prstGeom>
            <a:solidFill>
              <a:srgbClr val="B3CA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0"/>
            <p:cNvSpPr/>
            <p:nvPr/>
          </p:nvSpPr>
          <p:spPr>
            <a:xfrm>
              <a:off x="3348272" y="1234667"/>
              <a:ext cx="1645622" cy="987373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0"/>
            <p:cNvSpPr txBox="1"/>
            <p:nvPr/>
          </p:nvSpPr>
          <p:spPr>
            <a:xfrm>
              <a:off x="3377191" y="1263586"/>
              <a:ext cx="1587784" cy="9295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pt-BR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Modelagem</a:t>
              </a:r>
              <a:endPara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0"/>
            <p:cNvSpPr/>
            <p:nvPr/>
          </p:nvSpPr>
          <p:spPr>
            <a:xfrm>
              <a:off x="3684498" y="168563"/>
              <a:ext cx="2181577" cy="148106"/>
            </a:xfrm>
            <a:prstGeom prst="rect">
              <a:avLst/>
            </a:prstGeom>
            <a:solidFill>
              <a:srgbClr val="B3CA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0"/>
            <p:cNvSpPr/>
            <p:nvPr/>
          </p:nvSpPr>
          <p:spPr>
            <a:xfrm>
              <a:off x="3348272" y="450"/>
              <a:ext cx="1645622" cy="987373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0"/>
            <p:cNvSpPr txBox="1"/>
            <p:nvPr/>
          </p:nvSpPr>
          <p:spPr>
            <a:xfrm>
              <a:off x="3377191" y="29369"/>
              <a:ext cx="1587784" cy="9295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pt-BR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Construção</a:t>
              </a:r>
              <a:endPara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0"/>
            <p:cNvSpPr/>
            <p:nvPr/>
          </p:nvSpPr>
          <p:spPr>
            <a:xfrm rot="5400000">
              <a:off x="5256068" y="785672"/>
              <a:ext cx="1227115" cy="148106"/>
            </a:xfrm>
            <a:prstGeom prst="rect">
              <a:avLst/>
            </a:prstGeom>
            <a:solidFill>
              <a:srgbClr val="B3CA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0"/>
            <p:cNvSpPr/>
            <p:nvPr/>
          </p:nvSpPr>
          <p:spPr>
            <a:xfrm>
              <a:off x="5536951" y="450"/>
              <a:ext cx="1645622" cy="987373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0"/>
            <p:cNvSpPr txBox="1"/>
            <p:nvPr/>
          </p:nvSpPr>
          <p:spPr>
            <a:xfrm>
              <a:off x="5565870" y="29369"/>
              <a:ext cx="1587784" cy="9295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pt-BR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Codificação</a:t>
              </a:r>
              <a:endPara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0"/>
            <p:cNvSpPr/>
            <p:nvPr/>
          </p:nvSpPr>
          <p:spPr>
            <a:xfrm rot="5400000">
              <a:off x="5256068" y="2019889"/>
              <a:ext cx="1227115" cy="148106"/>
            </a:xfrm>
            <a:prstGeom prst="rect">
              <a:avLst/>
            </a:prstGeom>
            <a:solidFill>
              <a:srgbClr val="B3CA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0"/>
            <p:cNvSpPr/>
            <p:nvPr/>
          </p:nvSpPr>
          <p:spPr>
            <a:xfrm>
              <a:off x="5536951" y="1234667"/>
              <a:ext cx="1645622" cy="987373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0"/>
            <p:cNvSpPr txBox="1"/>
            <p:nvPr/>
          </p:nvSpPr>
          <p:spPr>
            <a:xfrm>
              <a:off x="5565870" y="1263586"/>
              <a:ext cx="1587784" cy="9295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pt-BR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Testes</a:t>
              </a:r>
              <a:endPara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0"/>
            <p:cNvSpPr/>
            <p:nvPr/>
          </p:nvSpPr>
          <p:spPr>
            <a:xfrm>
              <a:off x="5536951" y="2468884"/>
              <a:ext cx="1645622" cy="987373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0"/>
            <p:cNvSpPr txBox="1"/>
            <p:nvPr/>
          </p:nvSpPr>
          <p:spPr>
            <a:xfrm>
              <a:off x="5565870" y="2497803"/>
              <a:ext cx="1587784" cy="9295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7150" lIns="57150" spcFirstLastPara="1" rIns="57150" wrap="square" tIns="5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pt-BR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Disponibilização</a:t>
              </a:r>
              <a:endPara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2" name="Google Shape;152;p10"/>
          <p:cNvSpPr txBox="1"/>
          <p:nvPr/>
        </p:nvSpPr>
        <p:spPr>
          <a:xfrm>
            <a:off x="2645512" y="1724890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8p</a:t>
            </a:r>
            <a:endParaRPr/>
          </a:p>
        </p:txBody>
      </p:sp>
      <p:sp>
        <p:nvSpPr>
          <p:cNvPr id="153" name="Google Shape;153;p10"/>
          <p:cNvSpPr txBox="1"/>
          <p:nvPr/>
        </p:nvSpPr>
        <p:spPr>
          <a:xfrm>
            <a:off x="2645512" y="2956945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8p</a:t>
            </a:r>
            <a:endParaRPr/>
          </a:p>
        </p:txBody>
      </p:sp>
      <p:sp>
        <p:nvSpPr>
          <p:cNvPr id="154" name="Google Shape;154;p10"/>
          <p:cNvSpPr txBox="1"/>
          <p:nvPr/>
        </p:nvSpPr>
        <p:spPr>
          <a:xfrm>
            <a:off x="2595819" y="4190648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10p</a:t>
            </a:r>
            <a:endParaRPr/>
          </a:p>
        </p:txBody>
      </p:sp>
      <p:sp>
        <p:nvSpPr>
          <p:cNvPr id="155" name="Google Shape;155;p10"/>
          <p:cNvSpPr txBox="1"/>
          <p:nvPr/>
        </p:nvSpPr>
        <p:spPr>
          <a:xfrm>
            <a:off x="4843719" y="1711023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12p</a:t>
            </a:r>
            <a:endParaRPr/>
          </a:p>
        </p:txBody>
      </p:sp>
      <p:sp>
        <p:nvSpPr>
          <p:cNvPr id="156" name="Google Shape;156;p10"/>
          <p:cNvSpPr txBox="1"/>
          <p:nvPr/>
        </p:nvSpPr>
        <p:spPr>
          <a:xfrm>
            <a:off x="4847005" y="2956945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10p</a:t>
            </a:r>
            <a:endParaRPr/>
          </a:p>
        </p:txBody>
      </p:sp>
      <p:sp>
        <p:nvSpPr>
          <p:cNvPr id="157" name="Google Shape;157;p10"/>
          <p:cNvSpPr txBox="1"/>
          <p:nvPr/>
        </p:nvSpPr>
        <p:spPr>
          <a:xfrm>
            <a:off x="4847005" y="4189000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10p</a:t>
            </a:r>
            <a:endParaRPr/>
          </a:p>
        </p:txBody>
      </p:sp>
      <p:sp>
        <p:nvSpPr>
          <p:cNvPr id="158" name="Google Shape;158;p10"/>
          <p:cNvSpPr txBox="1"/>
          <p:nvPr/>
        </p:nvSpPr>
        <p:spPr>
          <a:xfrm>
            <a:off x="7036731" y="1724889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12p</a:t>
            </a:r>
            <a:endParaRPr/>
          </a:p>
        </p:txBody>
      </p:sp>
      <p:sp>
        <p:nvSpPr>
          <p:cNvPr id="159" name="Google Shape;159;p10"/>
          <p:cNvSpPr txBox="1"/>
          <p:nvPr/>
        </p:nvSpPr>
        <p:spPr>
          <a:xfrm>
            <a:off x="7141312" y="2956945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9p</a:t>
            </a:r>
            <a:endParaRPr/>
          </a:p>
        </p:txBody>
      </p:sp>
      <p:sp>
        <p:nvSpPr>
          <p:cNvPr id="160" name="Google Shape;160;p10"/>
          <p:cNvSpPr txBox="1"/>
          <p:nvPr/>
        </p:nvSpPr>
        <p:spPr>
          <a:xfrm>
            <a:off x="7141312" y="4190648"/>
            <a:ext cx="38343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5p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 txBox="1"/>
          <p:nvPr>
            <p:ph type="title"/>
          </p:nvPr>
        </p:nvSpPr>
        <p:spPr>
          <a:xfrm>
            <a:off x="707220" y="203899"/>
            <a:ext cx="6171562" cy="8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2100"/>
              <a:t>Princípios que guiam a prática - PROCESSO</a:t>
            </a:r>
            <a:endParaRPr/>
          </a:p>
        </p:txBody>
      </p:sp>
      <p:sp>
        <p:nvSpPr>
          <p:cNvPr id="166" name="Google Shape;166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descr="fluxo de trabalho" id="167" name="Google Shape;167;p11"/>
          <p:cNvSpPr/>
          <p:nvPr/>
        </p:nvSpPr>
        <p:spPr>
          <a:xfrm>
            <a:off x="4001063" y="2000812"/>
            <a:ext cx="1141875" cy="11418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8" name="Google Shape;168;p11"/>
          <p:cNvGrpSpPr/>
          <p:nvPr/>
        </p:nvGrpSpPr>
        <p:grpSpPr>
          <a:xfrm>
            <a:off x="449934" y="1571523"/>
            <a:ext cx="7948035" cy="2382639"/>
            <a:chOff x="38808" y="555491"/>
            <a:chExt cx="7948035" cy="2382639"/>
          </a:xfrm>
        </p:grpSpPr>
        <p:sp>
          <p:nvSpPr>
            <p:cNvPr id="169" name="Google Shape;169;p11"/>
            <p:cNvSpPr/>
            <p:nvPr/>
          </p:nvSpPr>
          <p:spPr>
            <a:xfrm>
              <a:off x="653923" y="555491"/>
              <a:ext cx="1132312" cy="1132312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chemeClr val="accent2"/>
            </a:solidFill>
            <a:ln>
              <a:noFill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1"/>
            <p:cNvSpPr/>
            <p:nvPr/>
          </p:nvSpPr>
          <p:spPr>
            <a:xfrm>
              <a:off x="895236" y="796804"/>
              <a:ext cx="649687" cy="64968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1"/>
            <p:cNvSpPr/>
            <p:nvPr/>
          </p:nvSpPr>
          <p:spPr>
            <a:xfrm>
              <a:off x="38808" y="2040491"/>
              <a:ext cx="2362542" cy="8976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1"/>
            <p:cNvSpPr txBox="1"/>
            <p:nvPr/>
          </p:nvSpPr>
          <p:spPr>
            <a:xfrm>
              <a:off x="38808" y="2040491"/>
              <a:ext cx="2362542" cy="8976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Princípio 1. Seja ágil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385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independentemente do seu modelo de processo, deixe que os princípios básicos do desenvolvimento ágil governem sua abordagem.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1"/>
            <p:cNvSpPr/>
            <p:nvPr/>
          </p:nvSpPr>
          <p:spPr>
            <a:xfrm>
              <a:off x="3329596" y="555491"/>
              <a:ext cx="1132312" cy="1132312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chemeClr val="accent3"/>
            </a:solidFill>
            <a:ln>
              <a:noFill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1"/>
            <p:cNvSpPr/>
            <p:nvPr/>
          </p:nvSpPr>
          <p:spPr>
            <a:xfrm>
              <a:off x="3570909" y="796804"/>
              <a:ext cx="649687" cy="64968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1"/>
            <p:cNvSpPr/>
            <p:nvPr/>
          </p:nvSpPr>
          <p:spPr>
            <a:xfrm>
              <a:off x="2726194" y="2040491"/>
              <a:ext cx="2339116" cy="8976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1"/>
            <p:cNvSpPr txBox="1"/>
            <p:nvPr/>
          </p:nvSpPr>
          <p:spPr>
            <a:xfrm>
              <a:off x="2726194" y="2040491"/>
              <a:ext cx="2339116" cy="8976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Princípio 2</a:t>
              </a:r>
              <a:r>
                <a:rPr b="0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 </a:t>
              </a:r>
              <a:r>
                <a:rPr b="1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Foque na qualidade em cada etapa</a:t>
              </a:r>
              <a:r>
                <a:rPr b="0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385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 condição de saída para cada atividade, ação e tarefa do processo deve focar na qualidade do produto de trabalho produzido.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1"/>
            <p:cNvSpPr/>
            <p:nvPr/>
          </p:nvSpPr>
          <p:spPr>
            <a:xfrm>
              <a:off x="6122343" y="555491"/>
              <a:ext cx="1132312" cy="1132312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chemeClr val="accent4"/>
            </a:solidFill>
            <a:ln>
              <a:noFill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1"/>
            <p:cNvSpPr/>
            <p:nvPr/>
          </p:nvSpPr>
          <p:spPr>
            <a:xfrm>
              <a:off x="6363655" y="796804"/>
              <a:ext cx="649687" cy="64968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-25999" r="-25999" t="0"/>
              </a:stretch>
            </a:blipFill>
            <a:ln>
              <a:noFill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5390154" y="2040491"/>
              <a:ext cx="2596689" cy="8976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1"/>
            <p:cNvSpPr txBox="1"/>
            <p:nvPr/>
          </p:nvSpPr>
          <p:spPr>
            <a:xfrm>
              <a:off x="5390154" y="2040491"/>
              <a:ext cx="2596689" cy="8976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Princípio 3. Esteja pronto para se adaptar</a:t>
              </a:r>
              <a:r>
                <a:rPr b="0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385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 dogma não tem lugar no desenvolvimento de software. Adapte sua abordagem às restrições impostas pelo problema, pelas pessoas e pelo próprio projeto.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6" name="Google Shape;186;p12"/>
          <p:cNvSpPr txBox="1"/>
          <p:nvPr>
            <p:ph type="title"/>
          </p:nvPr>
        </p:nvSpPr>
        <p:spPr>
          <a:xfrm>
            <a:off x="628650" y="274638"/>
            <a:ext cx="7886700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</a:pPr>
            <a:r>
              <a:rPr lang="pt-BR" sz="2100"/>
              <a:t>Princípios que guiam a prática - PROCESSO</a:t>
            </a:r>
            <a:endParaRPr/>
          </a:p>
        </p:txBody>
      </p:sp>
      <p:grpSp>
        <p:nvGrpSpPr>
          <p:cNvPr id="187" name="Google Shape;187;p12"/>
          <p:cNvGrpSpPr/>
          <p:nvPr/>
        </p:nvGrpSpPr>
        <p:grpSpPr>
          <a:xfrm>
            <a:off x="943308" y="1502836"/>
            <a:ext cx="7257381" cy="2550000"/>
            <a:chOff x="202371" y="539945"/>
            <a:chExt cx="7257381" cy="2550000"/>
          </a:xfrm>
        </p:grpSpPr>
        <p:sp>
          <p:nvSpPr>
            <p:cNvPr id="188" name="Google Shape;188;p12"/>
            <p:cNvSpPr/>
            <p:nvPr/>
          </p:nvSpPr>
          <p:spPr>
            <a:xfrm>
              <a:off x="798126" y="539945"/>
              <a:ext cx="974872" cy="97487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-26999" r="-26999" t="0"/>
              </a:stretch>
            </a:blipFill>
            <a:ln cap="flat" cmpd="sng" w="25400">
              <a:solidFill>
                <a:schemeClr val="lt1">
                  <a:alpha val="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2"/>
            <p:cNvSpPr/>
            <p:nvPr/>
          </p:nvSpPr>
          <p:spPr>
            <a:xfrm>
              <a:off x="202371" y="1897445"/>
              <a:ext cx="2166382" cy="11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2"/>
            <p:cNvSpPr txBox="1"/>
            <p:nvPr/>
          </p:nvSpPr>
          <p:spPr>
            <a:xfrm>
              <a:off x="202371" y="1897445"/>
              <a:ext cx="2166382" cy="11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Princípio 4. Construa uma equipe eficaz: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385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 processo e a prática da engenharia de software são importantes, mas o ponto principal são as pessoas. Construa uma equipe auto-organizada.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2"/>
            <p:cNvSpPr/>
            <p:nvPr/>
          </p:nvSpPr>
          <p:spPr>
            <a:xfrm>
              <a:off x="3343626" y="539945"/>
              <a:ext cx="974872" cy="97487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>
                  <a:alpha val="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2"/>
            <p:cNvSpPr/>
            <p:nvPr/>
          </p:nvSpPr>
          <p:spPr>
            <a:xfrm>
              <a:off x="2747871" y="1897445"/>
              <a:ext cx="2166382" cy="11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2"/>
            <p:cNvSpPr txBox="1"/>
            <p:nvPr/>
          </p:nvSpPr>
          <p:spPr>
            <a:xfrm>
              <a:off x="2747871" y="1897445"/>
              <a:ext cx="2166382" cy="11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Princípio 5. Estabeleça mecanismos para comunicação e coordenação</a:t>
              </a:r>
              <a:r>
                <a:rPr b="0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385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Projetos falham porque as informações se perdem ou os stakeholders falham em coordenar seus esforços.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2"/>
            <p:cNvSpPr/>
            <p:nvPr/>
          </p:nvSpPr>
          <p:spPr>
            <a:xfrm>
              <a:off x="5889126" y="539945"/>
              <a:ext cx="974872" cy="97487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>
                  <a:alpha val="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2"/>
            <p:cNvSpPr/>
            <p:nvPr/>
          </p:nvSpPr>
          <p:spPr>
            <a:xfrm>
              <a:off x="5293370" y="1897445"/>
              <a:ext cx="2166382" cy="11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2"/>
            <p:cNvSpPr txBox="1"/>
            <p:nvPr/>
          </p:nvSpPr>
          <p:spPr>
            <a:xfrm>
              <a:off x="5293370" y="1897445"/>
              <a:ext cx="2166382" cy="11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Princípio 6. Gerencie mudanças. A abordagem pode ser formal ou informal</a:t>
              </a:r>
              <a:r>
                <a:rPr b="0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385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Você precisa de mecanismos para gerenciar como as mudanças são solicitadas, avaliadas, aprovadas e implementadas.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202" name="Google Shape;202;p13"/>
          <p:cNvGrpSpPr/>
          <p:nvPr/>
        </p:nvGrpSpPr>
        <p:grpSpPr>
          <a:xfrm>
            <a:off x="1802532" y="1750213"/>
            <a:ext cx="5089571" cy="2562156"/>
            <a:chOff x="1050827" y="53031"/>
            <a:chExt cx="5089571" cy="2562156"/>
          </a:xfrm>
        </p:grpSpPr>
        <p:sp>
          <p:nvSpPr>
            <p:cNvPr id="203" name="Google Shape;203;p13"/>
            <p:cNvSpPr/>
            <p:nvPr/>
          </p:nvSpPr>
          <p:spPr>
            <a:xfrm>
              <a:off x="1510750" y="108076"/>
              <a:ext cx="766494" cy="766494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-32999" r="-32999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3"/>
            <p:cNvSpPr/>
            <p:nvPr/>
          </p:nvSpPr>
          <p:spPr>
            <a:xfrm>
              <a:off x="1050827" y="1060241"/>
              <a:ext cx="1703320" cy="1163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3"/>
            <p:cNvSpPr txBox="1"/>
            <p:nvPr/>
          </p:nvSpPr>
          <p:spPr>
            <a:xfrm>
              <a:off x="1050827" y="1060241"/>
              <a:ext cx="1703320" cy="1163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Princípio 7. Avalie os riscos: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385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Muitas coisas podem dar errado durante o desenvolvimento de software; estabeleça planos de contingência.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4636955" y="53031"/>
              <a:ext cx="766494" cy="766494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3820289" y="975224"/>
              <a:ext cx="2320109" cy="1639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3"/>
            <p:cNvSpPr txBox="1"/>
            <p:nvPr/>
          </p:nvSpPr>
          <p:spPr>
            <a:xfrm>
              <a:off x="3820289" y="975224"/>
              <a:ext cx="2320109" cy="1639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Princípio 8. Crie produtos de trabalho que proporcionem valor para os outros</a:t>
              </a:r>
              <a:r>
                <a:rPr b="0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385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pt-BR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Crie apenas aqueles produtos de trabalho que proporcionem valor para outras atividades, ações ou tarefas do processo.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9" name="Google Shape;209;p13"/>
          <p:cNvSpPr txBox="1"/>
          <p:nvPr>
            <p:ph type="title"/>
          </p:nvPr>
        </p:nvSpPr>
        <p:spPr>
          <a:xfrm>
            <a:off x="628650" y="274638"/>
            <a:ext cx="7886700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2100"/>
              <a:t>Princípios que guiam a prática - PROCESSO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BR"/>
              <a:t>Visão da Engenharia de Requisitos</a:t>
            </a:r>
            <a:endParaRPr/>
          </a:p>
        </p:txBody>
      </p:sp>
      <p:sp>
        <p:nvSpPr>
          <p:cNvPr id="215" name="Google Shape;215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216" name="Google Shape;216;p15"/>
          <p:cNvGrpSpPr/>
          <p:nvPr/>
        </p:nvGrpSpPr>
        <p:grpSpPr>
          <a:xfrm>
            <a:off x="164152" y="2255226"/>
            <a:ext cx="8815693" cy="1095145"/>
            <a:chOff x="1812" y="800500"/>
            <a:chExt cx="8815693" cy="1095145"/>
          </a:xfrm>
        </p:grpSpPr>
        <p:sp>
          <p:nvSpPr>
            <p:cNvPr id="217" name="Google Shape;217;p15"/>
            <p:cNvSpPr/>
            <p:nvPr/>
          </p:nvSpPr>
          <p:spPr>
            <a:xfrm>
              <a:off x="302970" y="800500"/>
              <a:ext cx="492802" cy="49280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5"/>
            <p:cNvSpPr/>
            <p:nvPr/>
          </p:nvSpPr>
          <p:spPr>
            <a:xfrm>
              <a:off x="1812" y="1457599"/>
              <a:ext cx="1095117" cy="438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5"/>
            <p:cNvSpPr txBox="1"/>
            <p:nvPr/>
          </p:nvSpPr>
          <p:spPr>
            <a:xfrm>
              <a:off x="1812" y="1457599"/>
              <a:ext cx="1095117" cy="438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pt-BR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Co</a:t>
              </a:r>
              <a:r>
                <a:rPr b="0" i="0" lang="pt-BR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ncepção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5"/>
            <p:cNvSpPr/>
            <p:nvPr/>
          </p:nvSpPr>
          <p:spPr>
            <a:xfrm>
              <a:off x="1589732" y="800500"/>
              <a:ext cx="492802" cy="49280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5"/>
            <p:cNvSpPr/>
            <p:nvPr/>
          </p:nvSpPr>
          <p:spPr>
            <a:xfrm>
              <a:off x="1288575" y="1457599"/>
              <a:ext cx="1095117" cy="438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5"/>
            <p:cNvSpPr txBox="1"/>
            <p:nvPr/>
          </p:nvSpPr>
          <p:spPr>
            <a:xfrm>
              <a:off x="1288575" y="1457599"/>
              <a:ext cx="1095117" cy="438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pt-BR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r>
                <a:rPr b="0" i="0" lang="pt-BR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evantamento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5"/>
            <p:cNvSpPr/>
            <p:nvPr/>
          </p:nvSpPr>
          <p:spPr>
            <a:xfrm>
              <a:off x="2876495" y="800500"/>
              <a:ext cx="492802" cy="49280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-42999" r="-42999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5"/>
            <p:cNvSpPr/>
            <p:nvPr/>
          </p:nvSpPr>
          <p:spPr>
            <a:xfrm>
              <a:off x="2575338" y="1457599"/>
              <a:ext cx="1095117" cy="438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5"/>
            <p:cNvSpPr txBox="1"/>
            <p:nvPr/>
          </p:nvSpPr>
          <p:spPr>
            <a:xfrm>
              <a:off x="2575338" y="1457599"/>
              <a:ext cx="1095117" cy="438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pt-BR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r>
                <a:rPr b="0" i="0" lang="pt-BR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laboração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5"/>
            <p:cNvSpPr/>
            <p:nvPr/>
          </p:nvSpPr>
          <p:spPr>
            <a:xfrm>
              <a:off x="4163258" y="800500"/>
              <a:ext cx="492802" cy="49280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5"/>
            <p:cNvSpPr/>
            <p:nvPr/>
          </p:nvSpPr>
          <p:spPr>
            <a:xfrm>
              <a:off x="3862100" y="1457599"/>
              <a:ext cx="1095117" cy="438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5"/>
            <p:cNvSpPr txBox="1"/>
            <p:nvPr/>
          </p:nvSpPr>
          <p:spPr>
            <a:xfrm>
              <a:off x="3862100" y="1457599"/>
              <a:ext cx="1095117" cy="438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pt-BR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N</a:t>
              </a:r>
              <a:r>
                <a:rPr b="0" i="0" lang="pt-BR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egociação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5"/>
            <p:cNvSpPr/>
            <p:nvPr/>
          </p:nvSpPr>
          <p:spPr>
            <a:xfrm>
              <a:off x="5450020" y="800500"/>
              <a:ext cx="492802" cy="49280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5"/>
            <p:cNvSpPr/>
            <p:nvPr/>
          </p:nvSpPr>
          <p:spPr>
            <a:xfrm>
              <a:off x="5148863" y="1457599"/>
              <a:ext cx="1095117" cy="438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5"/>
            <p:cNvSpPr txBox="1"/>
            <p:nvPr/>
          </p:nvSpPr>
          <p:spPr>
            <a:xfrm>
              <a:off x="5148863" y="1457599"/>
              <a:ext cx="1095117" cy="438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pt-BR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Es</a:t>
              </a:r>
              <a:r>
                <a:rPr b="0" i="0" lang="pt-BR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pecificação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5"/>
            <p:cNvSpPr/>
            <p:nvPr/>
          </p:nvSpPr>
          <p:spPr>
            <a:xfrm>
              <a:off x="6736783" y="800500"/>
              <a:ext cx="492802" cy="492802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5"/>
            <p:cNvSpPr/>
            <p:nvPr/>
          </p:nvSpPr>
          <p:spPr>
            <a:xfrm>
              <a:off x="6435626" y="1457599"/>
              <a:ext cx="1095117" cy="438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5"/>
            <p:cNvSpPr txBox="1"/>
            <p:nvPr/>
          </p:nvSpPr>
          <p:spPr>
            <a:xfrm>
              <a:off x="6435626" y="1457599"/>
              <a:ext cx="1095117" cy="438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pt-BR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Va</a:t>
              </a:r>
              <a:r>
                <a:rPr b="0" i="0" lang="pt-BR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lidação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5"/>
            <p:cNvSpPr/>
            <p:nvPr/>
          </p:nvSpPr>
          <p:spPr>
            <a:xfrm>
              <a:off x="8023546" y="800500"/>
              <a:ext cx="492802" cy="492802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7722388" y="1457599"/>
              <a:ext cx="1095117" cy="438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5"/>
            <p:cNvSpPr txBox="1"/>
            <p:nvPr/>
          </p:nvSpPr>
          <p:spPr>
            <a:xfrm>
              <a:off x="7722388" y="1457599"/>
              <a:ext cx="1095117" cy="438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pt-BR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Ge</a:t>
              </a:r>
              <a:r>
                <a:rPr b="0" i="0" lang="pt-BR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renciamento de Requisitos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8" name="Google Shape;238;p15"/>
          <p:cNvSpPr txBox="1"/>
          <p:nvPr/>
        </p:nvSpPr>
        <p:spPr>
          <a:xfrm>
            <a:off x="4852284" y="3802415"/>
            <a:ext cx="188976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Xandorex: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COLEN ESVAGE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9" name="Google Shape;239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193161" y="3833638"/>
            <a:ext cx="532154" cy="460733"/>
          </a:xfrm>
          <a:prstGeom prst="ellipse">
            <a:avLst/>
          </a:prstGeom>
          <a:noFill/>
          <a:ln cap="rnd" cmpd="sng" w="635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2100" sy="-18000">
              <a:srgbClr val="000000">
                <a:alpha val="21568"/>
              </a:srgbClr>
            </a:outerShdw>
          </a:effectLst>
        </p:spPr>
      </p:pic>
      <p:sp>
        <p:nvSpPr>
          <p:cNvPr id="240" name="Google Shape;240;p15"/>
          <p:cNvSpPr txBox="1"/>
          <p:nvPr/>
        </p:nvSpPr>
        <p:spPr>
          <a:xfrm>
            <a:off x="1562432" y="3746047"/>
            <a:ext cx="188976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Pressman</a:t>
            </a:r>
            <a:b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 FASES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BR"/>
              <a:t>Visão da Engenharia de Requisitos</a:t>
            </a:r>
            <a:endParaRPr/>
          </a:p>
        </p:txBody>
      </p:sp>
      <p:sp>
        <p:nvSpPr>
          <p:cNvPr id="246" name="Google Shape;246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7" name="Google Shape;247;p16"/>
          <p:cNvSpPr txBox="1"/>
          <p:nvPr/>
        </p:nvSpPr>
        <p:spPr>
          <a:xfrm>
            <a:off x="4852284" y="3802415"/>
            <a:ext cx="188976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Xandorex: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</a:t>
            </a:r>
            <a:r>
              <a:rPr b="1" i="0" lang="pt-BR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ESVAGE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3161" y="3833638"/>
            <a:ext cx="532154" cy="460733"/>
          </a:xfrm>
          <a:prstGeom prst="ellipse">
            <a:avLst/>
          </a:prstGeom>
          <a:noFill/>
          <a:ln cap="rnd" cmpd="sng" w="635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2100" sy="-18000">
              <a:srgbClr val="000000">
                <a:alpha val="21568"/>
              </a:srgbClr>
            </a:outerShdw>
          </a:effectLst>
        </p:spPr>
      </p:pic>
      <p:sp>
        <p:nvSpPr>
          <p:cNvPr id="249" name="Google Shape;249;p16"/>
          <p:cNvSpPr txBox="1"/>
          <p:nvPr/>
        </p:nvSpPr>
        <p:spPr>
          <a:xfrm>
            <a:off x="1562432" y="3746047"/>
            <a:ext cx="188976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Pressman</a:t>
            </a:r>
            <a:b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1º FASE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Google Shape;25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3161" y="3833638"/>
            <a:ext cx="532154" cy="460733"/>
          </a:xfrm>
          <a:prstGeom prst="ellipse">
            <a:avLst/>
          </a:prstGeom>
          <a:noFill/>
          <a:ln cap="rnd" cmpd="sng" w="635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2100" sy="-18000">
              <a:srgbClr val="000000">
                <a:alpha val="21568"/>
              </a:srgbClr>
            </a:outerShdw>
          </a:effectLst>
        </p:spPr>
      </p:pic>
      <p:sp>
        <p:nvSpPr>
          <p:cNvPr id="251" name="Google Shape;251;p16"/>
          <p:cNvSpPr txBox="1"/>
          <p:nvPr/>
        </p:nvSpPr>
        <p:spPr>
          <a:xfrm>
            <a:off x="875051" y="2072057"/>
            <a:ext cx="7886700" cy="19355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Conceção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1800" u="none" cap="none" strike="noStrike">
              <a:solidFill>
                <a:srgbClr val="3F3F3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Quando temos uma </a:t>
            </a:r>
            <a:r>
              <a:rPr b="1" i="0" lang="pt-BR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necessidade de negócio identificada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É quando temos que </a:t>
            </a:r>
            <a:r>
              <a:rPr b="0" i="0" lang="pt-BR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estabelecer a comunicação para colaboração eficaz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F3F3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descr="Bebê cegonha estrutura de tópicos" id="252" name="Google Shape;252;p16"/>
          <p:cNvSpPr/>
          <p:nvPr/>
        </p:nvSpPr>
        <p:spPr>
          <a:xfrm>
            <a:off x="3558640" y="1015059"/>
            <a:ext cx="850297" cy="85029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7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BR"/>
              <a:t>Visão da Engenharia de Requisitos</a:t>
            </a:r>
            <a:endParaRPr/>
          </a:p>
        </p:txBody>
      </p:sp>
      <p:sp>
        <p:nvSpPr>
          <p:cNvPr id="258" name="Google Shape;258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59" name="Google Shape;259;p17"/>
          <p:cNvSpPr txBox="1"/>
          <p:nvPr/>
        </p:nvSpPr>
        <p:spPr>
          <a:xfrm>
            <a:off x="4852284" y="3802415"/>
            <a:ext cx="188976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Xandorex: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</a:t>
            </a:r>
            <a:r>
              <a:rPr b="1" i="0" lang="pt-BR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b="1" i="0" lang="pt-BR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ESVAGE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3161" y="3833638"/>
            <a:ext cx="532154" cy="460733"/>
          </a:xfrm>
          <a:prstGeom prst="ellipse">
            <a:avLst/>
          </a:prstGeom>
          <a:noFill/>
          <a:ln cap="rnd" cmpd="sng" w="635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2100" sy="-18000">
              <a:srgbClr val="000000">
                <a:alpha val="21568"/>
              </a:srgbClr>
            </a:outerShdw>
          </a:effectLst>
        </p:spPr>
      </p:pic>
      <p:sp>
        <p:nvSpPr>
          <p:cNvPr id="261" name="Google Shape;261;p17"/>
          <p:cNvSpPr txBox="1"/>
          <p:nvPr/>
        </p:nvSpPr>
        <p:spPr>
          <a:xfrm>
            <a:off x="1562432" y="3746047"/>
            <a:ext cx="188976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Pressman</a:t>
            </a:r>
            <a:b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2ª FASE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3161" y="3833638"/>
            <a:ext cx="532154" cy="460733"/>
          </a:xfrm>
          <a:prstGeom prst="ellipse">
            <a:avLst/>
          </a:prstGeom>
          <a:noFill/>
          <a:ln cap="rnd" cmpd="sng" w="635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2100" sy="-18000">
              <a:srgbClr val="000000">
                <a:alpha val="21568"/>
              </a:srgbClr>
            </a:outerShdw>
          </a:effectLst>
        </p:spPr>
      </p:pic>
      <p:sp>
        <p:nvSpPr>
          <p:cNvPr id="263" name="Google Shape;263;p17"/>
          <p:cNvSpPr txBox="1"/>
          <p:nvPr/>
        </p:nvSpPr>
        <p:spPr>
          <a:xfrm>
            <a:off x="677141" y="1959539"/>
            <a:ext cx="7886700" cy="1288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Levantamento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1800" u="none" cap="none" strike="noStrike">
              <a:solidFill>
                <a:srgbClr val="3F3F3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pt-BR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Entender as metas do negócio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que devem ser </a:t>
            </a:r>
            <a:r>
              <a:rPr b="1" i="0" lang="pt-BR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especificadas com precisão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Aqui ocorre o primeiro </a:t>
            </a:r>
            <a:r>
              <a:rPr b="0" i="0" lang="pt-BR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estabelecimento de prioridades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F3F3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descr="Body Builder" id="264" name="Google Shape;264;p17"/>
          <p:cNvSpPr/>
          <p:nvPr/>
        </p:nvSpPr>
        <p:spPr>
          <a:xfrm>
            <a:off x="3819908" y="1100927"/>
            <a:ext cx="849074" cy="85861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8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BR"/>
              <a:t>Visão da Engenharia de Requisitos</a:t>
            </a:r>
            <a:endParaRPr/>
          </a:p>
        </p:txBody>
      </p:sp>
      <p:sp>
        <p:nvSpPr>
          <p:cNvPr id="270" name="Google Shape;270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1" name="Google Shape;271;p18"/>
          <p:cNvSpPr txBox="1"/>
          <p:nvPr/>
        </p:nvSpPr>
        <p:spPr>
          <a:xfrm>
            <a:off x="4852284" y="3802415"/>
            <a:ext cx="188976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Xandorex: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</a:t>
            </a:r>
            <a:r>
              <a:rPr b="1" i="0" lang="pt-BR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1" i="0" lang="pt-BR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ESVAGE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2" name="Google Shape;27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3161" y="3833638"/>
            <a:ext cx="532154" cy="460733"/>
          </a:xfrm>
          <a:prstGeom prst="ellipse">
            <a:avLst/>
          </a:prstGeom>
          <a:noFill/>
          <a:ln cap="rnd" cmpd="sng" w="635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2100" sy="-18000">
              <a:srgbClr val="000000">
                <a:alpha val="21568"/>
              </a:srgbClr>
            </a:outerShdw>
          </a:effectLst>
        </p:spPr>
      </p:pic>
      <p:sp>
        <p:nvSpPr>
          <p:cNvPr id="273" name="Google Shape;273;p18"/>
          <p:cNvSpPr txBox="1"/>
          <p:nvPr/>
        </p:nvSpPr>
        <p:spPr>
          <a:xfrm>
            <a:off x="1562432" y="3746047"/>
            <a:ext cx="188976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Pressman</a:t>
            </a:r>
            <a:b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3ª FASE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4" name="Google Shape;27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3161" y="3833638"/>
            <a:ext cx="532154" cy="460733"/>
          </a:xfrm>
          <a:prstGeom prst="ellipse">
            <a:avLst/>
          </a:prstGeom>
          <a:noFill/>
          <a:ln cap="rnd" cmpd="sng" w="635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2100" sy="-18000">
              <a:srgbClr val="000000">
                <a:alpha val="21568"/>
              </a:srgbClr>
            </a:outerShdw>
          </a:effectLst>
        </p:spPr>
      </p:pic>
      <p:sp>
        <p:nvSpPr>
          <p:cNvPr id="275" name="Google Shape;275;p18"/>
          <p:cNvSpPr txBox="1"/>
          <p:nvPr/>
        </p:nvSpPr>
        <p:spPr>
          <a:xfrm>
            <a:off x="697923" y="2358791"/>
            <a:ext cx="7886700" cy="117765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Elaboração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1800" u="none" cap="none" strike="noStrike">
              <a:solidFill>
                <a:srgbClr val="3F3F3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pt-BR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Criação e refinamento de cenários do usuário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ou seja como o usuário irá </a:t>
            </a:r>
            <a:r>
              <a:rPr b="1" i="0" lang="pt-BR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interagir com o sistema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Não ser </a:t>
            </a:r>
            <a:r>
              <a:rPr b="0" i="0" lang="pt-BR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taxativo e obcecado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buscar base sólida.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F3F3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6" name="Google Shape;276;p18"/>
          <p:cNvSpPr/>
          <p:nvPr/>
        </p:nvSpPr>
        <p:spPr>
          <a:xfrm>
            <a:off x="3708623" y="1075358"/>
            <a:ext cx="1016692" cy="113483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42999" r="-42999" t="0"/>
            </a:stretch>
          </a:blip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9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BR"/>
              <a:t>Visão da Engenharia de Requisitos</a:t>
            </a:r>
            <a:endParaRPr/>
          </a:p>
        </p:txBody>
      </p:sp>
      <p:sp>
        <p:nvSpPr>
          <p:cNvPr id="282" name="Google Shape;282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3" name="Google Shape;283;p19"/>
          <p:cNvSpPr txBox="1"/>
          <p:nvPr/>
        </p:nvSpPr>
        <p:spPr>
          <a:xfrm>
            <a:off x="4852284" y="3802415"/>
            <a:ext cx="188976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Xandorex: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COLE</a:t>
            </a:r>
            <a:r>
              <a:rPr b="1" i="0" lang="pt-BR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ESVAGE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" name="Google Shape;28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3161" y="3833638"/>
            <a:ext cx="532154" cy="460733"/>
          </a:xfrm>
          <a:prstGeom prst="ellipse">
            <a:avLst/>
          </a:prstGeom>
          <a:noFill/>
          <a:ln cap="rnd" cmpd="sng" w="635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2100" sy="-18000">
              <a:srgbClr val="000000">
                <a:alpha val="21568"/>
              </a:srgbClr>
            </a:outerShdw>
          </a:effectLst>
        </p:spPr>
      </p:pic>
      <p:sp>
        <p:nvSpPr>
          <p:cNvPr id="285" name="Google Shape;285;p19"/>
          <p:cNvSpPr txBox="1"/>
          <p:nvPr/>
        </p:nvSpPr>
        <p:spPr>
          <a:xfrm>
            <a:off x="1562432" y="3746047"/>
            <a:ext cx="188976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Pressman</a:t>
            </a:r>
            <a:b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4ª FASE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3161" y="3833638"/>
            <a:ext cx="532154" cy="460733"/>
          </a:xfrm>
          <a:prstGeom prst="ellipse">
            <a:avLst/>
          </a:prstGeom>
          <a:noFill/>
          <a:ln cap="rnd" cmpd="sng" w="635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2100" sy="-18000">
              <a:srgbClr val="000000">
                <a:alpha val="21568"/>
              </a:srgbClr>
            </a:outerShdw>
          </a:effectLst>
        </p:spPr>
      </p:pic>
      <p:sp>
        <p:nvSpPr>
          <p:cNvPr id="287" name="Google Shape;287;p19"/>
          <p:cNvSpPr txBox="1"/>
          <p:nvPr/>
        </p:nvSpPr>
        <p:spPr>
          <a:xfrm>
            <a:off x="628650" y="2084230"/>
            <a:ext cx="7886700" cy="11637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Negociação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1800" u="none" cap="none" strike="noStrike">
              <a:solidFill>
                <a:srgbClr val="3F3F3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pt-BR" sz="18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Conciliar conflitos, solicitando ordenação dos requisitos</a:t>
            </a:r>
            <a:r>
              <a:rPr b="1" i="0" lang="pt-BR" sz="1800" u="none" cap="none" strike="noStrike">
                <a:solidFill>
                  <a:srgbClr val="2A2A2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pt-BR" sz="1800" u="none" cap="none" strike="noStrike">
                <a:solidFill>
                  <a:srgbClr val="2A2A2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 discussões para definição de prioridades. </a:t>
            </a:r>
            <a:r>
              <a:rPr b="0" i="0" lang="pt-BR" sz="1800" u="sng" cap="none" strike="noStrike">
                <a:solidFill>
                  <a:srgbClr val="2A2A2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Alinhar expectativas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F3F3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descr="Aperto de mão" id="288" name="Google Shape;288;p19"/>
          <p:cNvSpPr/>
          <p:nvPr/>
        </p:nvSpPr>
        <p:spPr>
          <a:xfrm>
            <a:off x="3876241" y="920449"/>
            <a:ext cx="849074" cy="116378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0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BR"/>
              <a:t>Visão da Engenharia de Requisitos</a:t>
            </a:r>
            <a:endParaRPr/>
          </a:p>
        </p:txBody>
      </p:sp>
      <p:sp>
        <p:nvSpPr>
          <p:cNvPr id="294" name="Google Shape;294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5" name="Google Shape;295;p20"/>
          <p:cNvSpPr txBox="1"/>
          <p:nvPr/>
        </p:nvSpPr>
        <p:spPr>
          <a:xfrm>
            <a:off x="4852284" y="3802415"/>
            <a:ext cx="188976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Xandorex: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COLEN</a:t>
            </a:r>
            <a:r>
              <a:rPr b="1" i="0" lang="pt-BR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ES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VAGE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3161" y="3833638"/>
            <a:ext cx="532154" cy="460733"/>
          </a:xfrm>
          <a:prstGeom prst="ellipse">
            <a:avLst/>
          </a:prstGeom>
          <a:noFill/>
          <a:ln cap="rnd" cmpd="sng" w="635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2100" sy="-18000">
              <a:srgbClr val="000000">
                <a:alpha val="21568"/>
              </a:srgbClr>
            </a:outerShdw>
          </a:effectLst>
        </p:spPr>
      </p:pic>
      <p:sp>
        <p:nvSpPr>
          <p:cNvPr id="297" name="Google Shape;297;p20"/>
          <p:cNvSpPr txBox="1"/>
          <p:nvPr/>
        </p:nvSpPr>
        <p:spPr>
          <a:xfrm>
            <a:off x="1562432" y="3746047"/>
            <a:ext cx="188976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Pressman</a:t>
            </a:r>
            <a:b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5ª FASE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8" name="Google Shape;29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3161" y="3833638"/>
            <a:ext cx="532154" cy="460733"/>
          </a:xfrm>
          <a:prstGeom prst="ellipse">
            <a:avLst/>
          </a:prstGeom>
          <a:noFill/>
          <a:ln cap="rnd" cmpd="sng" w="635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2100" sy="-18000">
              <a:srgbClr val="000000">
                <a:alpha val="21568"/>
              </a:srgbClr>
            </a:outerShdw>
          </a:effectLst>
        </p:spPr>
      </p:pic>
      <p:sp>
        <p:nvSpPr>
          <p:cNvPr id="299" name="Google Shape;299;p20"/>
          <p:cNvSpPr txBox="1"/>
          <p:nvPr/>
        </p:nvSpPr>
        <p:spPr>
          <a:xfrm>
            <a:off x="690995" y="2203892"/>
            <a:ext cx="7886700" cy="115685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Especificação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1800" u="none" cap="none" strike="noStrike">
              <a:solidFill>
                <a:srgbClr val="3F3F3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8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Documentar as necessidades e restrições do usuário</a:t>
            </a:r>
            <a:r>
              <a:rPr b="0" i="0" lang="pt-BR" sz="1800" u="none" cap="none" strike="noStrike">
                <a:solidFill>
                  <a:srgbClr val="2A2A2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de forma clara e precisa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Sempre </a:t>
            </a:r>
            <a:r>
              <a:rPr b="0" i="0" lang="pt-BR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desenhe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usando </a:t>
            </a:r>
            <a:r>
              <a:rPr b="1" i="0" lang="pt-BR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modelos de linguagem conhecidos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F3F3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descr="Área de transferência Mista estrutura de tópicos" id="300" name="Google Shape;300;p20"/>
          <p:cNvSpPr/>
          <p:nvPr/>
        </p:nvSpPr>
        <p:spPr>
          <a:xfrm>
            <a:off x="3867858" y="1030049"/>
            <a:ext cx="959910" cy="115685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1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BR"/>
              <a:t>Visão da Engenharia de Requisitos</a:t>
            </a:r>
            <a:endParaRPr/>
          </a:p>
        </p:txBody>
      </p:sp>
      <p:sp>
        <p:nvSpPr>
          <p:cNvPr id="306" name="Google Shape;306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07" name="Google Shape;307;p21"/>
          <p:cNvSpPr txBox="1"/>
          <p:nvPr/>
        </p:nvSpPr>
        <p:spPr>
          <a:xfrm>
            <a:off x="4852284" y="3802415"/>
            <a:ext cx="188976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Xandorex: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COLEN ES</a:t>
            </a:r>
            <a:r>
              <a:rPr b="1" i="0" lang="pt-BR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VA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8" name="Google Shape;30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3161" y="3833638"/>
            <a:ext cx="532154" cy="460733"/>
          </a:xfrm>
          <a:prstGeom prst="ellipse">
            <a:avLst/>
          </a:prstGeom>
          <a:noFill/>
          <a:ln cap="rnd" cmpd="sng" w="635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2100" sy="-18000">
              <a:srgbClr val="000000">
                <a:alpha val="21568"/>
              </a:srgbClr>
            </a:outerShdw>
          </a:effectLst>
        </p:spPr>
      </p:pic>
      <p:sp>
        <p:nvSpPr>
          <p:cNvPr id="309" name="Google Shape;309;p21"/>
          <p:cNvSpPr txBox="1"/>
          <p:nvPr/>
        </p:nvSpPr>
        <p:spPr>
          <a:xfrm>
            <a:off x="1562432" y="3746047"/>
            <a:ext cx="188976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Pressman</a:t>
            </a:r>
            <a:b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6ª FASE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0" name="Google Shape;3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3161" y="3833638"/>
            <a:ext cx="532154" cy="460733"/>
          </a:xfrm>
          <a:prstGeom prst="ellipse">
            <a:avLst/>
          </a:prstGeom>
          <a:noFill/>
          <a:ln cap="rnd" cmpd="sng" w="635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2100" sy="-18000">
              <a:srgbClr val="000000">
                <a:alpha val="21568"/>
              </a:srgbClr>
            </a:outerShdw>
          </a:effectLst>
        </p:spPr>
      </p:pic>
      <p:sp>
        <p:nvSpPr>
          <p:cNvPr id="311" name="Google Shape;311;p21"/>
          <p:cNvSpPr txBox="1"/>
          <p:nvPr/>
        </p:nvSpPr>
        <p:spPr>
          <a:xfrm>
            <a:off x="628650" y="2259310"/>
            <a:ext cx="7886700" cy="11014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Validação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1800" u="none" cap="none" strike="noStrike">
              <a:solidFill>
                <a:srgbClr val="3F3F3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800" u="none" cap="none" strike="noStrike">
                <a:solidFill>
                  <a:srgbClr val="2A2A2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Garantir que os </a:t>
            </a:r>
            <a:r>
              <a:rPr b="1" i="0" lang="pt-BR" sz="18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requisitos foram declarados de forma consistente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Eliminar </a:t>
            </a:r>
            <a:r>
              <a:rPr b="0" i="0" lang="pt-BR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ambiguidades, inconsistências, omissões e erros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F3F3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descr="Bug under Magnifying Glass" id="312" name="Google Shape;312;p21"/>
          <p:cNvSpPr/>
          <p:nvPr/>
        </p:nvSpPr>
        <p:spPr>
          <a:xfrm>
            <a:off x="3764490" y="992537"/>
            <a:ext cx="1036110" cy="121102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2"/>
          <p:cNvSpPr txBox="1"/>
          <p:nvPr>
            <p:ph type="title"/>
          </p:nvPr>
        </p:nvSpPr>
        <p:spPr>
          <a:xfrm>
            <a:off x="628650" y="273844"/>
            <a:ext cx="788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BR"/>
              <a:t>Visão da Engenharia de Requisitos</a:t>
            </a:r>
            <a:endParaRPr/>
          </a:p>
        </p:txBody>
      </p:sp>
      <p:sp>
        <p:nvSpPr>
          <p:cNvPr id="318" name="Google Shape;318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19" name="Google Shape;319;p22"/>
          <p:cNvSpPr txBox="1"/>
          <p:nvPr/>
        </p:nvSpPr>
        <p:spPr>
          <a:xfrm>
            <a:off x="4852284" y="3802415"/>
            <a:ext cx="188976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Xandorex: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COLEN</a:t>
            </a:r>
            <a:r>
              <a:rPr b="1" i="0" lang="pt-BR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ESVA</a:t>
            </a:r>
            <a:r>
              <a:rPr b="1" i="0" lang="pt-BR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GE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0" name="Google Shape;3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3161" y="3833638"/>
            <a:ext cx="532154" cy="460733"/>
          </a:xfrm>
          <a:prstGeom prst="ellipse">
            <a:avLst/>
          </a:prstGeom>
          <a:noFill/>
          <a:ln cap="rnd" cmpd="sng" w="635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2100" sy="-18000">
              <a:srgbClr val="000000">
                <a:alpha val="21568"/>
              </a:srgbClr>
            </a:outerShdw>
          </a:effectLst>
        </p:spPr>
      </p:pic>
      <p:sp>
        <p:nvSpPr>
          <p:cNvPr id="321" name="Google Shape;321;p22"/>
          <p:cNvSpPr txBox="1"/>
          <p:nvPr/>
        </p:nvSpPr>
        <p:spPr>
          <a:xfrm>
            <a:off x="1562432" y="3746047"/>
            <a:ext cx="1889760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Pressman</a:t>
            </a:r>
            <a:b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7ª FASE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2" name="Google Shape;32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3161" y="3833638"/>
            <a:ext cx="532154" cy="460733"/>
          </a:xfrm>
          <a:prstGeom prst="ellipse">
            <a:avLst/>
          </a:prstGeom>
          <a:noFill/>
          <a:ln cap="rnd" cmpd="sng" w="635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381000" sx="-80000" rotWithShape="0" dir="5400000" dist="292100" sy="-18000">
              <a:srgbClr val="000000">
                <a:alpha val="21568"/>
              </a:srgbClr>
            </a:outerShdw>
          </a:effectLst>
        </p:spPr>
      </p:pic>
      <p:sp>
        <p:nvSpPr>
          <p:cNvPr id="323" name="Google Shape;323;p22"/>
          <p:cNvSpPr txBox="1"/>
          <p:nvPr/>
        </p:nvSpPr>
        <p:spPr>
          <a:xfrm>
            <a:off x="628650" y="2202943"/>
            <a:ext cx="7886700" cy="11014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Gerenciamento de Requisitos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b="0" i="0" sz="1800" u="none" cap="none" strike="noStrike">
              <a:solidFill>
                <a:srgbClr val="3F3F3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800" u="none" cap="none" strike="noStrike">
                <a:solidFill>
                  <a:srgbClr val="2A2A2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 gerenciamento de requisitos é uma </a:t>
            </a:r>
            <a:r>
              <a:rPr b="1" i="0" lang="pt-BR" sz="18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forma de coletar, analisar, refinar e priorizar todos os produtos ou requisitos</a:t>
            </a:r>
            <a:r>
              <a:rPr b="0" i="0" lang="pt-BR" sz="1800" u="none" cap="none" strike="noStrike">
                <a:solidFill>
                  <a:srgbClr val="2A2A2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na fase de desenvolvimento</a:t>
            </a:r>
            <a:r>
              <a:rPr b="0" i="0" lang="pt-B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F3F3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descr="Análise do cliente estrutura de tópicos" id="324" name="Google Shape;324;p22"/>
          <p:cNvSpPr/>
          <p:nvPr/>
        </p:nvSpPr>
        <p:spPr>
          <a:xfrm>
            <a:off x="3613358" y="899268"/>
            <a:ext cx="862928" cy="114446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Exercitando a teoria</a:t>
            </a:r>
            <a:endParaRPr/>
          </a:p>
        </p:txBody>
      </p:sp>
      <p:sp>
        <p:nvSpPr>
          <p:cNvPr id="330" name="Google Shape;330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31" name="Google Shape;331;p23"/>
          <p:cNvSpPr txBox="1"/>
          <p:nvPr/>
        </p:nvSpPr>
        <p:spPr>
          <a:xfrm>
            <a:off x="1636694" y="4709518"/>
            <a:ext cx="93326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LETRA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2" name="Google Shape;3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30" y="952274"/>
            <a:ext cx="9059539" cy="3238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38" name="Google Shape;33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93" y="876063"/>
            <a:ext cx="9050013" cy="3391373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Exercitando a teoria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5" name="Google Shape;345;p25"/>
          <p:cNvSpPr txBox="1"/>
          <p:nvPr/>
        </p:nvSpPr>
        <p:spPr>
          <a:xfrm>
            <a:off x="1636700" y="4318670"/>
            <a:ext cx="103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LETRA 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6" name="Google Shape;34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986" y="1063220"/>
            <a:ext cx="7914028" cy="373741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Exercitando a teoria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53" name="Google Shape;35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76236"/>
            <a:ext cx="9144000" cy="2991028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Exercitando a teoria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60" name="Google Shape;360;p2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Exercitando a teoria</a:t>
            </a:r>
            <a:endParaRPr/>
          </a:p>
        </p:txBody>
      </p:sp>
      <p:pic>
        <p:nvPicPr>
          <p:cNvPr id="361" name="Google Shape;36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62" y="999905"/>
            <a:ext cx="8964276" cy="3143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67" name="Google Shape;367;p2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Exercitando a teoria</a:t>
            </a:r>
            <a:endParaRPr/>
          </a:p>
        </p:txBody>
      </p:sp>
      <p:pic>
        <p:nvPicPr>
          <p:cNvPr id="368" name="Google Shape;36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310" y="790326"/>
            <a:ext cx="8097380" cy="3562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Ana Cristine</dc:creator>
</cp:coreProperties>
</file>